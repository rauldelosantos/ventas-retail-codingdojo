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5" r:id="rId7"/>
    <p:sldId id="267" r:id="rId8"/>
    <p:sldId id="268" r:id="rId9"/>
    <p:sldId id="269" r:id="rId10"/>
    <p:sldId id="270" r:id="rId11"/>
    <p:sldId id="271" r:id="rId12"/>
    <p:sldId id="272" r:id="rId13"/>
    <p:sldId id="257" r:id="rId14"/>
    <p:sldId id="258" r:id="rId15"/>
    <p:sldId id="266" r:id="rId16"/>
    <p:sldId id="259" r:id="rId1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65A659E-2981-44E2-8841-C19CF28207D7}"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C772D5-25EA-4986-B091-DBC4F09FD533}" type="datetimeFigureOut">
              <a:rPr lang="es-ES" smtClean="0"/>
              <a:pPr/>
              <a:t>27/10/2024</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5A659E-2981-44E2-8841-C19CF28207D7}"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42910" y="2357430"/>
            <a:ext cx="7772400" cy="1470025"/>
          </a:xfrm>
        </p:spPr>
        <p:txBody>
          <a:bodyPr>
            <a:normAutofit fontScale="90000"/>
          </a:bodyPr>
          <a:lstStyle/>
          <a:p>
            <a:r>
              <a:rPr lang="es-ES" dirty="0" smtClean="0"/>
              <a:t>V – Presentación CORE</a:t>
            </a:r>
            <a:br>
              <a:rPr lang="es-ES" dirty="0" smtClean="0"/>
            </a:br>
            <a:r>
              <a:rPr lang="es-ES" dirty="0" smtClean="0"/>
              <a:t>Análisis Avanzado de una empresa de </a:t>
            </a:r>
            <a:r>
              <a:rPr lang="es-ES" dirty="0" err="1" smtClean="0"/>
              <a:t>Retail</a:t>
            </a:r>
            <a:r>
              <a:rPr lang="es-ES" dirty="0" smtClean="0"/>
              <a:t> </a:t>
            </a:r>
            <a:endParaRPr lang="es-ES" dirty="0"/>
          </a:p>
        </p:txBody>
      </p:sp>
      <p:sp>
        <p:nvSpPr>
          <p:cNvPr id="3" name="2 Subtítulo"/>
          <p:cNvSpPr>
            <a:spLocks noGrp="1"/>
          </p:cNvSpPr>
          <p:nvPr>
            <p:ph type="subTitle" idx="1"/>
          </p:nvPr>
        </p:nvSpPr>
        <p:spPr>
          <a:xfrm>
            <a:off x="1571604" y="5981700"/>
            <a:ext cx="6400800" cy="1752600"/>
          </a:xfrm>
        </p:spPr>
        <p:txBody>
          <a:bodyPr/>
          <a:lstStyle/>
          <a:p>
            <a:r>
              <a:rPr lang="es-ES" dirty="0" smtClean="0"/>
              <a:t>Raúl De Los Santos Cáceres Penayo </a:t>
            </a:r>
            <a:endParaRPr lang="es-ES" dirty="0"/>
          </a:p>
        </p:txBody>
      </p:sp>
      <p:pic>
        <p:nvPicPr>
          <p:cNvPr id="4" name="3 Imagen" descr="logo-azul-trans.png"/>
          <p:cNvPicPr>
            <a:picLocks noChangeAspect="1"/>
          </p:cNvPicPr>
          <p:nvPr/>
        </p:nvPicPr>
        <p:blipFill>
          <a:blip r:embed="rId2"/>
          <a:stretch>
            <a:fillRect/>
          </a:stretch>
        </p:blipFill>
        <p:spPr>
          <a:xfrm>
            <a:off x="2928926" y="4500570"/>
            <a:ext cx="3429024" cy="1143008"/>
          </a:xfrm>
          <a:prstGeom prst="rect">
            <a:avLst/>
          </a:prstGeom>
        </p:spPr>
      </p:pic>
      <p:pic>
        <p:nvPicPr>
          <p:cNvPr id="5" name="4 Imagen" descr="MITIC-logo-sp.png"/>
          <p:cNvPicPr>
            <a:picLocks noChangeAspect="1"/>
          </p:cNvPicPr>
          <p:nvPr/>
        </p:nvPicPr>
        <p:blipFill>
          <a:blip r:embed="rId3"/>
          <a:stretch>
            <a:fillRect/>
          </a:stretch>
        </p:blipFill>
        <p:spPr>
          <a:xfrm>
            <a:off x="0" y="0"/>
            <a:ext cx="9144000" cy="223181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42910" y="785794"/>
            <a:ext cx="7772400" cy="1470025"/>
          </a:xfrm>
        </p:spPr>
        <p:txBody>
          <a:bodyPr>
            <a:normAutofit/>
          </a:bodyPr>
          <a:lstStyle/>
          <a:p>
            <a:r>
              <a:rPr lang="es-ES" sz="6600" dirty="0" smtClean="0">
                <a:solidFill>
                  <a:srgbClr val="FF0000"/>
                </a:solidFill>
              </a:rPr>
              <a:t>Contenido:</a:t>
            </a:r>
            <a:endParaRPr lang="es-ES" sz="6600" dirty="0">
              <a:solidFill>
                <a:srgbClr val="FF0000"/>
              </a:solidFill>
            </a:endParaRPr>
          </a:p>
        </p:txBody>
      </p:sp>
      <p:sp>
        <p:nvSpPr>
          <p:cNvPr id="3" name="2 Subtítulo"/>
          <p:cNvSpPr>
            <a:spLocks noGrp="1"/>
          </p:cNvSpPr>
          <p:nvPr>
            <p:ph type="subTitle" idx="1"/>
          </p:nvPr>
        </p:nvSpPr>
        <p:spPr>
          <a:xfrm>
            <a:off x="1214414" y="2214554"/>
            <a:ext cx="7000924" cy="3071834"/>
          </a:xfrm>
        </p:spPr>
        <p:txBody>
          <a:bodyPr>
            <a:normAutofit/>
          </a:bodyPr>
          <a:lstStyle/>
          <a:p>
            <a:pPr marL="514350" indent="-514350" algn="l" fontAlgn="base">
              <a:buFont typeface="+mj-lt"/>
              <a:buAutoNum type="arabicPeriod"/>
            </a:pPr>
            <a:r>
              <a:rPr lang="es-ES" dirty="0">
                <a:solidFill>
                  <a:schemeClr val="tx1"/>
                </a:solidFill>
              </a:rPr>
              <a:t>Introducción y objetivos del proyecto.</a:t>
            </a:r>
          </a:p>
          <a:p>
            <a:pPr marL="514350" indent="-514350" algn="l" fontAlgn="base">
              <a:buFont typeface="+mj-lt"/>
              <a:buAutoNum type="arabicPeriod"/>
            </a:pPr>
            <a:r>
              <a:rPr lang="es-ES" dirty="0">
                <a:solidFill>
                  <a:schemeClr val="tx1"/>
                </a:solidFill>
              </a:rPr>
              <a:t>Descripción del conjunto de datos.</a:t>
            </a:r>
          </a:p>
          <a:p>
            <a:pPr marL="514350" indent="-514350" algn="l" fontAlgn="base">
              <a:buFont typeface="+mj-lt"/>
              <a:buAutoNum type="arabicPeriod"/>
            </a:pPr>
            <a:r>
              <a:rPr lang="es-ES" dirty="0">
                <a:solidFill>
                  <a:schemeClr val="tx1"/>
                </a:solidFill>
              </a:rPr>
              <a:t>Principales análisis y hallazgos.</a:t>
            </a:r>
          </a:p>
          <a:p>
            <a:pPr marL="514350" indent="-514350" algn="l" fontAlgn="base">
              <a:buFont typeface="+mj-lt"/>
              <a:buAutoNum type="arabicPeriod"/>
            </a:pPr>
            <a:r>
              <a:rPr lang="es-ES" dirty="0">
                <a:solidFill>
                  <a:schemeClr val="tx1"/>
                </a:solidFill>
              </a:rPr>
              <a:t>Visualizaciones clave con explicación.</a:t>
            </a:r>
          </a:p>
          <a:p>
            <a:pPr marL="514350" indent="-514350" algn="l" fontAlgn="base">
              <a:buFont typeface="+mj-lt"/>
              <a:buAutoNum type="arabicPeriod"/>
            </a:pPr>
            <a:r>
              <a:rPr lang="es-ES" dirty="0">
                <a:solidFill>
                  <a:schemeClr val="tx1"/>
                </a:solidFill>
              </a:rPr>
              <a:t>Conclusiones y recomendaciones.</a:t>
            </a:r>
          </a:p>
          <a:p>
            <a:pPr marL="514350" indent="-514350" algn="l">
              <a:buFont typeface="+mj-lt"/>
              <a:buAutoNum type="arabicPeriod"/>
            </a:pPr>
            <a:endParaRPr lang="es-E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28596" y="857232"/>
            <a:ext cx="7772400" cy="1470025"/>
          </a:xfrm>
        </p:spPr>
        <p:txBody>
          <a:bodyPr>
            <a:normAutofit fontScale="90000"/>
          </a:bodyPr>
          <a:lstStyle/>
          <a:p>
            <a:r>
              <a:rPr lang="es-ES" dirty="0" smtClean="0">
                <a:solidFill>
                  <a:schemeClr val="tx1"/>
                </a:solidFill>
              </a:rPr>
              <a:t>1.- Introducción y objetivos del proyecto.</a:t>
            </a:r>
            <a:br>
              <a:rPr lang="es-ES" dirty="0" smtClean="0">
                <a:solidFill>
                  <a:schemeClr val="tx1"/>
                </a:solidFill>
              </a:rPr>
            </a:br>
            <a:endParaRPr lang="es-ES" dirty="0"/>
          </a:p>
        </p:txBody>
      </p:sp>
      <p:sp>
        <p:nvSpPr>
          <p:cNvPr id="3" name="2 Subtítulo"/>
          <p:cNvSpPr>
            <a:spLocks noGrp="1"/>
          </p:cNvSpPr>
          <p:nvPr>
            <p:ph type="subTitle" idx="1"/>
          </p:nvPr>
        </p:nvSpPr>
        <p:spPr>
          <a:xfrm>
            <a:off x="571472" y="2786058"/>
            <a:ext cx="8215370" cy="1752600"/>
          </a:xfrm>
        </p:spPr>
        <p:txBody>
          <a:bodyPr/>
          <a:lstStyle/>
          <a:p>
            <a:r>
              <a:rPr lang="es-ES" b="1" dirty="0">
                <a:solidFill>
                  <a:schemeClr val="tx1"/>
                </a:solidFill>
              </a:rPr>
              <a:t>Análisis y Predicción de Ventas en una Tienda de </a:t>
            </a:r>
            <a:r>
              <a:rPr lang="es-ES" b="1" dirty="0" err="1">
                <a:solidFill>
                  <a:schemeClr val="tx1"/>
                </a:solidFill>
              </a:rPr>
              <a:t>Retail</a:t>
            </a:r>
            <a:endParaRPr lang="es-E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57158" y="500042"/>
            <a:ext cx="8429684" cy="1470025"/>
          </a:xfrm>
        </p:spPr>
        <p:txBody>
          <a:bodyPr>
            <a:normAutofit fontScale="90000"/>
          </a:bodyPr>
          <a:lstStyle/>
          <a:p>
            <a:r>
              <a:rPr lang="es-ES" dirty="0" smtClean="0">
                <a:solidFill>
                  <a:schemeClr val="tx1"/>
                </a:solidFill>
              </a:rPr>
              <a:t>2.- Descripción del conjunto de datos </a:t>
            </a:r>
            <a:br>
              <a:rPr lang="es-ES" dirty="0" smtClean="0">
                <a:solidFill>
                  <a:schemeClr val="tx1"/>
                </a:solidFill>
              </a:rPr>
            </a:br>
            <a:endParaRPr lang="es-ES" dirty="0"/>
          </a:p>
        </p:txBody>
      </p:sp>
      <p:sp>
        <p:nvSpPr>
          <p:cNvPr id="3" name="2 Subtítulo"/>
          <p:cNvSpPr>
            <a:spLocks noGrp="1"/>
          </p:cNvSpPr>
          <p:nvPr>
            <p:ph type="subTitle" idx="1"/>
          </p:nvPr>
        </p:nvSpPr>
        <p:spPr>
          <a:xfrm>
            <a:off x="428596" y="1643050"/>
            <a:ext cx="8358246" cy="714380"/>
          </a:xfrm>
        </p:spPr>
        <p:txBody>
          <a:bodyPr>
            <a:noAutofit/>
          </a:bodyPr>
          <a:lstStyle/>
          <a:p>
            <a:r>
              <a:rPr lang="es-ES" sz="3600" dirty="0" err="1" smtClean="0">
                <a:solidFill>
                  <a:schemeClr val="tx1"/>
                </a:solidFill>
              </a:rPr>
              <a:t>Dataset</a:t>
            </a:r>
            <a:r>
              <a:rPr lang="es-ES" sz="3600" dirty="0" smtClean="0">
                <a:solidFill>
                  <a:schemeClr val="tx1"/>
                </a:solidFill>
              </a:rPr>
              <a:t> detallado.</a:t>
            </a:r>
            <a:endParaRPr lang="es-ES" sz="3600" dirty="0">
              <a:solidFill>
                <a:schemeClr val="tx1"/>
              </a:solidFill>
            </a:endParaRPr>
          </a:p>
          <a:p>
            <a:r>
              <a:rPr lang="es-ES" sz="3600" dirty="0">
                <a:solidFill>
                  <a:schemeClr val="tx1"/>
                </a:solidFill>
              </a:rPr>
              <a:t/>
            </a:r>
            <a:br>
              <a:rPr lang="es-ES" sz="3600" dirty="0">
                <a:solidFill>
                  <a:schemeClr val="tx1"/>
                </a:solidFill>
              </a:rPr>
            </a:br>
            <a:endParaRPr lang="es-ES" sz="3600" dirty="0">
              <a:solidFill>
                <a:schemeClr val="tx1"/>
              </a:solidFill>
            </a:endParaRPr>
          </a:p>
        </p:txBody>
      </p:sp>
      <p:pic>
        <p:nvPicPr>
          <p:cNvPr id="4" name="Picture 2"/>
          <p:cNvPicPr>
            <a:picLocks noChangeAspect="1" noChangeArrowheads="1"/>
          </p:cNvPicPr>
          <p:nvPr/>
        </p:nvPicPr>
        <p:blipFill>
          <a:blip r:embed="rId2"/>
          <a:srcRect/>
          <a:stretch>
            <a:fillRect/>
          </a:stretch>
        </p:blipFill>
        <p:spPr bwMode="auto">
          <a:xfrm>
            <a:off x="1142975" y="2786058"/>
            <a:ext cx="9082763" cy="407194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28596" y="857232"/>
            <a:ext cx="7772400" cy="1470025"/>
          </a:xfrm>
        </p:spPr>
        <p:txBody>
          <a:bodyPr>
            <a:normAutofit fontScale="90000"/>
          </a:bodyPr>
          <a:lstStyle/>
          <a:p>
            <a:r>
              <a:rPr lang="es-ES" dirty="0" smtClean="0">
                <a:solidFill>
                  <a:schemeClr val="tx1"/>
                </a:solidFill>
              </a:rPr>
              <a:t>3.- Principales análisis y hallazgos.</a:t>
            </a:r>
            <a:br>
              <a:rPr lang="es-ES" dirty="0" smtClean="0">
                <a:solidFill>
                  <a:schemeClr val="tx1"/>
                </a:solidFill>
              </a:rPr>
            </a:br>
            <a:r>
              <a:rPr lang="es-ES" dirty="0" smtClean="0">
                <a:solidFill>
                  <a:schemeClr val="tx1"/>
                </a:solidFill>
              </a:rPr>
              <a:t/>
            </a:r>
            <a:br>
              <a:rPr lang="es-ES" dirty="0" smtClean="0">
                <a:solidFill>
                  <a:schemeClr val="tx1"/>
                </a:solidFill>
              </a:rPr>
            </a:br>
            <a:endParaRPr lang="es-ES" dirty="0"/>
          </a:p>
        </p:txBody>
      </p:sp>
      <p:sp>
        <p:nvSpPr>
          <p:cNvPr id="3" name="2 Subtítulo"/>
          <p:cNvSpPr>
            <a:spLocks noGrp="1"/>
          </p:cNvSpPr>
          <p:nvPr>
            <p:ph type="subTitle" idx="1"/>
          </p:nvPr>
        </p:nvSpPr>
        <p:spPr>
          <a:xfrm>
            <a:off x="571472" y="2357430"/>
            <a:ext cx="8215370" cy="1752600"/>
          </a:xfrm>
        </p:spPr>
        <p:txBody>
          <a:bodyPr>
            <a:normAutofit fontScale="62500" lnSpcReduction="20000"/>
          </a:bodyPr>
          <a:lstStyle/>
          <a:p>
            <a:r>
              <a:rPr lang="es-ES" sz="4000" dirty="0">
                <a:solidFill>
                  <a:schemeClr val="tx1"/>
                </a:solidFill>
              </a:rPr>
              <a:t>Como nuestro </a:t>
            </a:r>
            <a:r>
              <a:rPr lang="es-ES" sz="4000" dirty="0" err="1">
                <a:solidFill>
                  <a:schemeClr val="tx1"/>
                </a:solidFill>
              </a:rPr>
              <a:t>DataSet</a:t>
            </a:r>
            <a:r>
              <a:rPr lang="es-ES" sz="4000" dirty="0">
                <a:solidFill>
                  <a:schemeClr val="tx1"/>
                </a:solidFill>
              </a:rPr>
              <a:t> no tiene </a:t>
            </a:r>
            <a:r>
              <a:rPr lang="es-ES" sz="4000" dirty="0" smtClean="0">
                <a:solidFill>
                  <a:schemeClr val="tx1"/>
                </a:solidFill>
              </a:rPr>
              <a:t>TIENDA </a:t>
            </a:r>
            <a:r>
              <a:rPr lang="es-ES" sz="4000" dirty="0">
                <a:solidFill>
                  <a:schemeClr val="tx1"/>
                </a:solidFill>
              </a:rPr>
              <a:t>usamos el </a:t>
            </a:r>
            <a:r>
              <a:rPr lang="es-ES" sz="4000" dirty="0" err="1">
                <a:solidFill>
                  <a:schemeClr val="tx1"/>
                </a:solidFill>
              </a:rPr>
              <a:t>Shoppin_mall</a:t>
            </a:r>
            <a:r>
              <a:rPr lang="es-ES" sz="4000" dirty="0">
                <a:solidFill>
                  <a:schemeClr val="tx1"/>
                </a:solidFill>
              </a:rPr>
              <a:t> para tener las ventas por </a:t>
            </a:r>
            <a:r>
              <a:rPr lang="es-ES" sz="4000" dirty="0" smtClean="0">
                <a:solidFill>
                  <a:schemeClr val="tx1"/>
                </a:solidFill>
              </a:rPr>
              <a:t>lugar.</a:t>
            </a:r>
          </a:p>
          <a:p>
            <a:endParaRPr lang="es-ES" dirty="0">
              <a:solidFill>
                <a:schemeClr val="tx1"/>
              </a:solidFill>
            </a:endParaRPr>
          </a:p>
          <a:p>
            <a:endParaRPr lang="es-ES" dirty="0" smtClean="0">
              <a:solidFill>
                <a:schemeClr val="tx1"/>
              </a:solidFill>
            </a:endParaRPr>
          </a:p>
          <a:p>
            <a:r>
              <a:rPr lang="es-ES" dirty="0" smtClean="0">
                <a:solidFill>
                  <a:schemeClr val="tx1"/>
                </a:solidFill>
              </a:rPr>
              <a:t>Los demás hallazgos se detallan después de las visualizaciones.</a:t>
            </a:r>
            <a:endParaRPr lang="es-E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14348" y="1285860"/>
            <a:ext cx="7772400" cy="1470025"/>
          </a:xfrm>
        </p:spPr>
        <p:txBody>
          <a:bodyPr>
            <a:normAutofit fontScale="90000"/>
          </a:bodyPr>
          <a:lstStyle/>
          <a:p>
            <a:r>
              <a:rPr lang="es-ES" dirty="0" smtClean="0">
                <a:solidFill>
                  <a:schemeClr val="tx1"/>
                </a:solidFill>
              </a:rPr>
              <a:t>4.- Visualizaciones clave con explicación.</a:t>
            </a:r>
            <a:br>
              <a:rPr lang="es-ES" dirty="0" smtClean="0">
                <a:solidFill>
                  <a:schemeClr val="tx1"/>
                </a:solidFill>
              </a:rPr>
            </a:br>
            <a:r>
              <a:rPr lang="es-ES" dirty="0" smtClean="0">
                <a:solidFill>
                  <a:schemeClr val="tx1"/>
                </a:solidFill>
              </a:rPr>
              <a:t/>
            </a:r>
            <a:br>
              <a:rPr lang="es-ES" dirty="0" smtClean="0">
                <a:solidFill>
                  <a:schemeClr val="tx1"/>
                </a:solidFill>
              </a:rPr>
            </a:br>
            <a:endParaRPr lang="es-ES" dirty="0"/>
          </a:p>
        </p:txBody>
      </p:sp>
      <p:sp>
        <p:nvSpPr>
          <p:cNvPr id="3" name="2 Subtítulo"/>
          <p:cNvSpPr>
            <a:spLocks noGrp="1"/>
          </p:cNvSpPr>
          <p:nvPr>
            <p:ph type="subTitle" idx="1"/>
          </p:nvPr>
        </p:nvSpPr>
        <p:spPr>
          <a:xfrm>
            <a:off x="571472" y="3143248"/>
            <a:ext cx="8215370" cy="1752600"/>
          </a:xfrm>
        </p:spPr>
        <p:txBody>
          <a:bodyPr/>
          <a:lstStyle/>
          <a:p>
            <a:r>
              <a:rPr lang="es-ES" b="1" dirty="0" smtClean="0">
                <a:solidFill>
                  <a:schemeClr val="tx1"/>
                </a:solidFill>
              </a:rPr>
              <a:t>Después de cada Grafico</a:t>
            </a:r>
            <a:endParaRPr lang="es-ES"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istograma_ingresos_totales.png"/>
          <p:cNvPicPr>
            <a:picLocks noChangeAspect="1"/>
          </p:cNvPicPr>
          <p:nvPr/>
        </p:nvPicPr>
        <p:blipFill>
          <a:blip r:embed="rId2"/>
          <a:stretch>
            <a:fillRect/>
          </a:stretch>
        </p:blipFill>
        <p:spPr>
          <a:xfrm>
            <a:off x="1071538" y="0"/>
            <a:ext cx="6858048" cy="5143536"/>
          </a:xfrm>
          <a:prstGeom prst="rect">
            <a:avLst/>
          </a:prstGeom>
        </p:spPr>
      </p:pic>
      <p:sp>
        <p:nvSpPr>
          <p:cNvPr id="3" name="2 CuadroTexto"/>
          <p:cNvSpPr txBox="1"/>
          <p:nvPr/>
        </p:nvSpPr>
        <p:spPr>
          <a:xfrm>
            <a:off x="1" y="5286388"/>
            <a:ext cx="8929718" cy="1477328"/>
          </a:xfrm>
          <a:prstGeom prst="rect">
            <a:avLst/>
          </a:prstGeom>
          <a:noFill/>
        </p:spPr>
        <p:txBody>
          <a:bodyPr wrap="square" rtlCol="0">
            <a:spAutoFit/>
          </a:bodyPr>
          <a:lstStyle/>
          <a:p>
            <a:pPr algn="ctr"/>
            <a:r>
              <a:rPr lang="es-ES" b="1" dirty="0" smtClean="0"/>
              <a:t>Histogramas</a:t>
            </a:r>
            <a:r>
              <a:rPr lang="es-ES" dirty="0" smtClean="0"/>
              <a:t>: </a:t>
            </a:r>
            <a:endParaRPr lang="es-ES" dirty="0" smtClean="0"/>
          </a:p>
          <a:p>
            <a:pPr algn="ctr"/>
            <a:r>
              <a:rPr lang="es-ES" dirty="0" smtClean="0"/>
              <a:t>Muestran </a:t>
            </a:r>
            <a:r>
              <a:rPr lang="es-ES" dirty="0" smtClean="0"/>
              <a:t>la distribución de frecuencia de una variable numérica.</a:t>
            </a:r>
          </a:p>
          <a:p>
            <a:pPr algn="ctr"/>
            <a:r>
              <a:rPr lang="es-ES" dirty="0" smtClean="0"/>
              <a:t>Te ayudan a visualizar la forma de la distribución, identificar posibles valores atípicos y </a:t>
            </a:r>
            <a:r>
              <a:rPr lang="es-ES" dirty="0" smtClean="0"/>
              <a:t>comprender el </a:t>
            </a:r>
            <a:r>
              <a:rPr lang="es-ES" dirty="0" smtClean="0"/>
              <a:t>rango de valores.</a:t>
            </a:r>
          </a:p>
          <a:p>
            <a:pPr algn="ctr"/>
            <a:endParaRPr lang="es-E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boxplot_ingresos_totales.png"/>
          <p:cNvPicPr>
            <a:picLocks noGrp="1" noChangeAspect="1"/>
          </p:cNvPicPr>
          <p:nvPr>
            <p:ph idx="1"/>
          </p:nvPr>
        </p:nvPicPr>
        <p:blipFill>
          <a:blip r:embed="rId2"/>
          <a:stretch>
            <a:fillRect/>
          </a:stretch>
        </p:blipFill>
        <p:spPr>
          <a:xfrm>
            <a:off x="1071538" y="214290"/>
            <a:ext cx="6953299" cy="5214974"/>
          </a:xfrm>
        </p:spPr>
      </p:pic>
      <p:sp>
        <p:nvSpPr>
          <p:cNvPr id="3" name="2 CuadroTexto"/>
          <p:cNvSpPr txBox="1"/>
          <p:nvPr/>
        </p:nvSpPr>
        <p:spPr>
          <a:xfrm>
            <a:off x="714348" y="5286388"/>
            <a:ext cx="7715304" cy="1477328"/>
          </a:xfrm>
          <a:prstGeom prst="rect">
            <a:avLst/>
          </a:prstGeom>
          <a:noFill/>
        </p:spPr>
        <p:txBody>
          <a:bodyPr wrap="square" rtlCol="0">
            <a:spAutoFit/>
          </a:bodyPr>
          <a:lstStyle/>
          <a:p>
            <a:pPr algn="ctr"/>
            <a:r>
              <a:rPr lang="es-ES" b="1" dirty="0" err="1" smtClean="0"/>
              <a:t>Boxplots</a:t>
            </a:r>
            <a:r>
              <a:rPr lang="es-ES" b="1" dirty="0" smtClean="0"/>
              <a:t>: </a:t>
            </a:r>
            <a:endParaRPr lang="es-ES" b="1" dirty="0" smtClean="0"/>
          </a:p>
          <a:p>
            <a:pPr algn="ctr"/>
            <a:r>
              <a:rPr lang="es-ES" dirty="0" smtClean="0"/>
              <a:t>Proporcionan </a:t>
            </a:r>
            <a:r>
              <a:rPr lang="es-ES" dirty="0" smtClean="0"/>
              <a:t>un resumen visual de la distribución, incluyendo la mediana, </a:t>
            </a:r>
            <a:r>
              <a:rPr lang="es-ES" dirty="0" err="1" smtClean="0"/>
              <a:t>cuartiles</a:t>
            </a:r>
            <a:r>
              <a:rPr lang="es-ES" dirty="0" smtClean="0"/>
              <a:t> y posibles valores atípicos. Son especialmente útiles para comparar la distribución de una variable en diferentes categorías.</a:t>
            </a:r>
          </a:p>
          <a:p>
            <a:endParaRPr lang="es-E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5572164"/>
            <a:ext cx="8929718" cy="1500174"/>
          </a:xfrm>
        </p:spPr>
        <p:txBody>
          <a:bodyPr>
            <a:normAutofit fontScale="90000"/>
          </a:bodyPr>
          <a:lstStyle/>
          <a:p>
            <a:r>
              <a:rPr lang="es-ES" sz="2200" dirty="0" smtClean="0"/>
              <a:t>Agrupamos los datos por fecha para obtener las ventas totales de cada día.</a:t>
            </a:r>
            <a:br>
              <a:rPr lang="es-ES" sz="2200" dirty="0" smtClean="0"/>
            </a:br>
            <a:r>
              <a:rPr lang="es-ES" sz="2200" dirty="0" smtClean="0"/>
              <a:t>Usamos </a:t>
            </a:r>
            <a:r>
              <a:rPr lang="es-ES" sz="2200" dirty="0" err="1" smtClean="0"/>
              <a:t>plt.plot</a:t>
            </a:r>
            <a:r>
              <a:rPr lang="es-ES" sz="2200" dirty="0" smtClean="0"/>
              <a:t>() para crear el gráfico de líneas, especificando la fecha </a:t>
            </a:r>
            <a:r>
              <a:rPr lang="es-ES" sz="2200" dirty="0" smtClean="0"/>
              <a:t>en el eje x </a:t>
            </a:r>
            <a:r>
              <a:rPr lang="es-ES" sz="2200" dirty="0" smtClean="0"/>
              <a:t>y </a:t>
            </a:r>
            <a:r>
              <a:rPr lang="es-ES" sz="2200" dirty="0" smtClean="0"/>
              <a:t>las </a:t>
            </a:r>
            <a:r>
              <a:rPr lang="es-ES" sz="2200" dirty="0" smtClean="0"/>
              <a:t>ventas totales en el eje y</a:t>
            </a:r>
            <a:r>
              <a:rPr lang="es-ES" sz="4000" dirty="0" smtClean="0"/>
              <a:t>.</a:t>
            </a:r>
            <a:r>
              <a:rPr lang="es-ES" dirty="0" smtClean="0"/>
              <a:t/>
            </a:r>
            <a:br>
              <a:rPr lang="es-ES" dirty="0" smtClean="0"/>
            </a:br>
            <a:endParaRPr lang="es-ES" dirty="0"/>
          </a:p>
        </p:txBody>
      </p:sp>
      <p:pic>
        <p:nvPicPr>
          <p:cNvPr id="4" name="3 Marcador de contenido" descr="tendencia_ventas_tiempo.png"/>
          <p:cNvPicPr>
            <a:picLocks noGrp="1" noChangeAspect="1"/>
          </p:cNvPicPr>
          <p:nvPr>
            <p:ph idx="1"/>
          </p:nvPr>
        </p:nvPicPr>
        <p:blipFill>
          <a:blip r:embed="rId2"/>
          <a:stretch>
            <a:fillRect/>
          </a:stretch>
        </p:blipFill>
        <p:spPr>
          <a:xfrm>
            <a:off x="1545902" y="354167"/>
            <a:ext cx="6455122" cy="484134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5500702"/>
            <a:ext cx="8929718" cy="1500174"/>
          </a:xfrm>
        </p:spPr>
        <p:txBody>
          <a:bodyPr>
            <a:normAutofit/>
          </a:bodyPr>
          <a:lstStyle/>
          <a:p>
            <a:r>
              <a:rPr lang="es-ES" sz="2000" dirty="0" smtClean="0"/>
              <a:t>Un </a:t>
            </a:r>
            <a:r>
              <a:rPr lang="es-ES" sz="2000" dirty="0" smtClean="0"/>
              <a:t>gráfico de dispersión, donde cada punto representa</a:t>
            </a:r>
            <a:br>
              <a:rPr lang="es-ES" sz="2000" dirty="0" smtClean="0"/>
            </a:br>
            <a:r>
              <a:rPr lang="es-ES" sz="2000" dirty="0" smtClean="0"/>
              <a:t>una observación en los datos.</a:t>
            </a:r>
            <a:br>
              <a:rPr lang="es-ES" sz="2000" dirty="0" smtClean="0"/>
            </a:br>
            <a:r>
              <a:rPr lang="es-ES" sz="2000" dirty="0" smtClean="0"/>
              <a:t>La posición del punto en el gráfico está determinada por los valores de las</a:t>
            </a:r>
            <a:br>
              <a:rPr lang="es-ES" sz="2000" dirty="0" smtClean="0"/>
            </a:br>
            <a:r>
              <a:rPr lang="es-ES" sz="2000" dirty="0" smtClean="0"/>
              <a:t>dos variables que se están analizando</a:t>
            </a:r>
            <a:r>
              <a:rPr lang="es-ES" sz="2000" dirty="0" smtClean="0"/>
              <a:t>.</a:t>
            </a:r>
            <a:endParaRPr lang="es-ES" dirty="0"/>
          </a:p>
        </p:txBody>
      </p:sp>
      <p:pic>
        <p:nvPicPr>
          <p:cNvPr id="6" name="5 Marcador de contenido" descr="relacion_cantidad_ventas.png"/>
          <p:cNvPicPr>
            <a:picLocks noGrp="1" noChangeAspect="1"/>
          </p:cNvPicPr>
          <p:nvPr>
            <p:ph idx="1"/>
          </p:nvPr>
        </p:nvPicPr>
        <p:blipFill>
          <a:blip r:embed="rId2"/>
          <a:stretch>
            <a:fillRect/>
          </a:stretch>
        </p:blipFill>
        <p:spPr>
          <a:xfrm>
            <a:off x="928662" y="0"/>
            <a:ext cx="7500990" cy="562574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5500702"/>
            <a:ext cx="8929718" cy="1500174"/>
          </a:xfrm>
        </p:spPr>
        <p:txBody>
          <a:bodyPr>
            <a:normAutofit fontScale="90000"/>
          </a:bodyPr>
          <a:lstStyle/>
          <a:p>
            <a:r>
              <a:rPr lang="es-ES" sz="2800" dirty="0" smtClean="0"/>
              <a:t>Dividimos la figura en dos </a:t>
            </a:r>
            <a:r>
              <a:rPr lang="es-ES" sz="2800" dirty="0" err="1" smtClean="0"/>
              <a:t>subplots</a:t>
            </a:r>
            <a:r>
              <a:rPr lang="es-ES" sz="2800" dirty="0" smtClean="0"/>
              <a:t> para mostrar el</a:t>
            </a:r>
            <a:br>
              <a:rPr lang="es-ES" sz="2800" dirty="0" smtClean="0"/>
            </a:br>
            <a:r>
              <a:rPr lang="es-ES" sz="2800" dirty="0" smtClean="0"/>
              <a:t>histograma y el </a:t>
            </a:r>
            <a:r>
              <a:rPr lang="es-ES" sz="2800" dirty="0" err="1" smtClean="0"/>
              <a:t>boxplot</a:t>
            </a:r>
            <a:r>
              <a:rPr lang="es-ES" sz="2800" dirty="0" smtClean="0"/>
              <a:t> por separado, pero en la misma figura.</a:t>
            </a:r>
            <a:r>
              <a:rPr lang="es-ES" dirty="0" smtClean="0"/>
              <a:t/>
            </a:r>
            <a:br>
              <a:rPr lang="es-ES" dirty="0" smtClean="0"/>
            </a:br>
            <a:endParaRPr lang="es-ES" dirty="0"/>
          </a:p>
        </p:txBody>
      </p:sp>
      <p:pic>
        <p:nvPicPr>
          <p:cNvPr id="5" name="4 Marcador de contenido" descr="histograma_boxplot_ventas.png"/>
          <p:cNvPicPr>
            <a:picLocks noGrp="1" noChangeAspect="1"/>
          </p:cNvPicPr>
          <p:nvPr>
            <p:ph idx="1"/>
          </p:nvPr>
        </p:nvPicPr>
        <p:blipFill>
          <a:blip r:embed="rId2"/>
          <a:stretch>
            <a:fillRect/>
          </a:stretch>
        </p:blipFill>
        <p:spPr>
          <a:xfrm>
            <a:off x="1000100" y="214290"/>
            <a:ext cx="6858048" cy="5143535"/>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5357826"/>
            <a:ext cx="8929718" cy="1500174"/>
          </a:xfrm>
        </p:spPr>
        <p:txBody>
          <a:bodyPr>
            <a:normAutofit/>
          </a:bodyPr>
          <a:lstStyle/>
          <a:p>
            <a:r>
              <a:rPr lang="es-ES" sz="2000" dirty="0" smtClean="0"/>
              <a:t>Superponemos el </a:t>
            </a:r>
            <a:r>
              <a:rPr lang="es-ES" sz="2000" dirty="0" err="1" smtClean="0"/>
              <a:t>boxplot</a:t>
            </a:r>
            <a:r>
              <a:rPr lang="es-ES" sz="2000" dirty="0" smtClean="0"/>
              <a:t> sobre el histograma para una visualización</a:t>
            </a:r>
            <a:br>
              <a:rPr lang="es-ES" sz="2000" dirty="0" smtClean="0"/>
            </a:br>
            <a:r>
              <a:rPr lang="es-ES" sz="2000" dirty="0" smtClean="0"/>
              <a:t>más compacta</a:t>
            </a:r>
            <a:r>
              <a:rPr lang="es-ES" sz="2000" dirty="0" smtClean="0"/>
              <a:t>. Los </a:t>
            </a:r>
            <a:r>
              <a:rPr lang="es-ES" sz="2000" dirty="0" smtClean="0"/>
              <a:t>valores atípicos se resaltan en el </a:t>
            </a:r>
            <a:r>
              <a:rPr lang="es-ES" sz="2000" dirty="0" err="1" smtClean="0"/>
              <a:t>boxplot</a:t>
            </a:r>
            <a:r>
              <a:rPr lang="es-ES" sz="2000" dirty="0" smtClean="0"/>
              <a:t>.</a:t>
            </a:r>
            <a:endParaRPr lang="es-ES" sz="2000" dirty="0"/>
          </a:p>
        </p:txBody>
      </p:sp>
      <p:pic>
        <p:nvPicPr>
          <p:cNvPr id="5" name="4 Marcador de contenido" descr="distribución_de_ventas_totales.png"/>
          <p:cNvPicPr>
            <a:picLocks noGrp="1" noChangeAspect="1"/>
          </p:cNvPicPr>
          <p:nvPr>
            <p:ph idx="1"/>
          </p:nvPr>
        </p:nvPicPr>
        <p:blipFill>
          <a:blip r:embed="rId2"/>
          <a:stretch>
            <a:fillRect/>
          </a:stretch>
        </p:blipFill>
        <p:spPr>
          <a:xfrm>
            <a:off x="714348" y="0"/>
            <a:ext cx="7500990" cy="5625743"/>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correlation_heatmap.png"/>
          <p:cNvPicPr>
            <a:picLocks noChangeAspect="1"/>
          </p:cNvPicPr>
          <p:nvPr/>
        </p:nvPicPr>
        <p:blipFill>
          <a:blip r:embed="rId2"/>
          <a:stretch>
            <a:fillRect/>
          </a:stretch>
        </p:blipFill>
        <p:spPr>
          <a:xfrm>
            <a:off x="1214414" y="-285776"/>
            <a:ext cx="7358114" cy="6131761"/>
          </a:xfrm>
          <a:prstGeom prst="rect">
            <a:avLst/>
          </a:prstGeom>
        </p:spPr>
      </p:pic>
      <p:sp>
        <p:nvSpPr>
          <p:cNvPr id="3" name="2 CuadroTexto"/>
          <p:cNvSpPr txBox="1"/>
          <p:nvPr/>
        </p:nvSpPr>
        <p:spPr>
          <a:xfrm>
            <a:off x="1142976" y="5934670"/>
            <a:ext cx="7215238" cy="923330"/>
          </a:xfrm>
          <a:prstGeom prst="rect">
            <a:avLst/>
          </a:prstGeom>
          <a:noFill/>
        </p:spPr>
        <p:txBody>
          <a:bodyPr wrap="square" rtlCol="0">
            <a:spAutoFit/>
          </a:bodyPr>
          <a:lstStyle/>
          <a:p>
            <a:r>
              <a:rPr lang="es-ES" dirty="0" smtClean="0"/>
              <a:t>Crea </a:t>
            </a:r>
            <a:r>
              <a:rPr lang="es-ES" dirty="0" err="1" smtClean="0"/>
              <a:t>subplots</a:t>
            </a:r>
            <a:r>
              <a:rPr lang="es-ES" dirty="0" smtClean="0"/>
              <a:t> para comparar diferentes variables clave. Añade cuadrículas, leyendas, anotaciones y flechas a tus gráficos para mejorar la claridad y la información.</a:t>
            </a:r>
            <a:endParaRPr lang="es-E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descr="comparacion_variables.png"/>
          <p:cNvPicPr>
            <a:picLocks noChangeAspect="1"/>
          </p:cNvPicPr>
          <p:nvPr/>
        </p:nvPicPr>
        <p:blipFill>
          <a:blip r:embed="rId2"/>
          <a:stretch>
            <a:fillRect/>
          </a:stretch>
        </p:blipFill>
        <p:spPr>
          <a:xfrm>
            <a:off x="0" y="0"/>
            <a:ext cx="5715000" cy="6858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500034" y="428604"/>
            <a:ext cx="8143932" cy="1470025"/>
          </a:xfrm>
        </p:spPr>
        <p:txBody>
          <a:bodyPr>
            <a:normAutofit fontScale="90000"/>
          </a:bodyPr>
          <a:lstStyle/>
          <a:p>
            <a:r>
              <a:rPr lang="es-ES" dirty="0" smtClean="0">
                <a:solidFill>
                  <a:schemeClr val="tx1"/>
                </a:solidFill>
              </a:rPr>
              <a:t>5.- Conclusiones y recomendaciones.</a:t>
            </a:r>
            <a:br>
              <a:rPr lang="es-ES" dirty="0" smtClean="0">
                <a:solidFill>
                  <a:schemeClr val="tx1"/>
                </a:solidFill>
              </a:rPr>
            </a:br>
            <a:endParaRPr lang="es-ES" dirty="0"/>
          </a:p>
        </p:txBody>
      </p:sp>
      <p:sp>
        <p:nvSpPr>
          <p:cNvPr id="5" name="2 Subtítulo"/>
          <p:cNvSpPr>
            <a:spLocks noGrp="1"/>
          </p:cNvSpPr>
          <p:nvPr>
            <p:ph type="subTitle" idx="1"/>
          </p:nvPr>
        </p:nvSpPr>
        <p:spPr>
          <a:xfrm>
            <a:off x="571472" y="1428736"/>
            <a:ext cx="8072462" cy="4429156"/>
          </a:xfrm>
        </p:spPr>
        <p:txBody>
          <a:bodyPr>
            <a:noAutofit/>
          </a:bodyPr>
          <a:lstStyle/>
          <a:p>
            <a:pPr algn="l">
              <a:buFont typeface="Arial" pitchFamily="34" charset="0"/>
              <a:buChar char="•"/>
            </a:pPr>
            <a:r>
              <a:rPr lang="es-ES" sz="2000" b="1" dirty="0">
                <a:solidFill>
                  <a:schemeClr val="tx1"/>
                </a:solidFill>
              </a:rPr>
              <a:t>Valores atípicos:</a:t>
            </a:r>
            <a:endParaRPr lang="es-ES" sz="2000" dirty="0">
              <a:solidFill>
                <a:schemeClr val="tx1"/>
              </a:solidFill>
            </a:endParaRPr>
          </a:p>
          <a:p>
            <a:pPr lvl="1" algn="l"/>
            <a:r>
              <a:rPr lang="es-ES" sz="1600" dirty="0">
                <a:solidFill>
                  <a:schemeClr val="tx1"/>
                </a:solidFill>
              </a:rPr>
              <a:t>Investigar los valores atípicos en '</a:t>
            </a:r>
            <a:r>
              <a:rPr lang="es-ES" sz="1600" dirty="0" err="1">
                <a:solidFill>
                  <a:schemeClr val="tx1"/>
                </a:solidFill>
              </a:rPr>
              <a:t>Total_Sales_Revenue</a:t>
            </a:r>
            <a:r>
              <a:rPr lang="es-ES" sz="1600" dirty="0">
                <a:solidFill>
                  <a:schemeClr val="tx1"/>
                </a:solidFill>
              </a:rPr>
              <a:t>'.</a:t>
            </a:r>
          </a:p>
          <a:p>
            <a:pPr lvl="1" algn="l"/>
            <a:r>
              <a:rPr lang="es-ES" sz="1600" dirty="0">
                <a:solidFill>
                  <a:schemeClr val="tx1"/>
                </a:solidFill>
              </a:rPr>
              <a:t>Comprender su origen y su impacto en el negocio.</a:t>
            </a:r>
          </a:p>
          <a:p>
            <a:pPr lvl="1" algn="l"/>
            <a:r>
              <a:rPr lang="es-ES" sz="1600" dirty="0">
                <a:solidFill>
                  <a:schemeClr val="tx1"/>
                </a:solidFill>
              </a:rPr>
              <a:t>Identificar oportunidades o riesgos potenciales.</a:t>
            </a:r>
          </a:p>
          <a:p>
            <a:pPr algn="l">
              <a:buFont typeface="Arial" pitchFamily="34" charset="0"/>
              <a:buChar char="•"/>
            </a:pPr>
            <a:r>
              <a:rPr lang="es-ES" sz="2000" b="1" dirty="0">
                <a:solidFill>
                  <a:schemeClr val="tx1"/>
                </a:solidFill>
              </a:rPr>
              <a:t>Relaciones entre variables:</a:t>
            </a:r>
            <a:endParaRPr lang="es-ES" sz="2000" dirty="0">
              <a:solidFill>
                <a:schemeClr val="tx1"/>
              </a:solidFill>
            </a:endParaRPr>
          </a:p>
          <a:p>
            <a:pPr lvl="1" algn="l"/>
            <a:r>
              <a:rPr lang="es-ES" sz="1600" dirty="0">
                <a:solidFill>
                  <a:schemeClr val="tx1"/>
                </a:solidFill>
              </a:rPr>
              <a:t>Profundizar en el análisis de correlación entre variables.</a:t>
            </a:r>
          </a:p>
          <a:p>
            <a:pPr lvl="1" algn="l"/>
            <a:r>
              <a:rPr lang="es-ES" sz="1600" dirty="0">
                <a:solidFill>
                  <a:schemeClr val="tx1"/>
                </a:solidFill>
              </a:rPr>
              <a:t>Identificar factores que influyen en las ventas.</a:t>
            </a:r>
          </a:p>
          <a:p>
            <a:pPr lvl="1" algn="l"/>
            <a:r>
              <a:rPr lang="es-ES" sz="1600" dirty="0">
                <a:solidFill>
                  <a:schemeClr val="tx1"/>
                </a:solidFill>
              </a:rPr>
              <a:t>Utilizar esta información para optimizar estrategias.</a:t>
            </a:r>
          </a:p>
          <a:p>
            <a:pPr algn="l">
              <a:buFont typeface="Arial" pitchFamily="34" charset="0"/>
              <a:buChar char="•"/>
            </a:pPr>
            <a:r>
              <a:rPr lang="es-ES" sz="2000" b="1" dirty="0">
                <a:solidFill>
                  <a:schemeClr val="tx1"/>
                </a:solidFill>
              </a:rPr>
              <a:t>Patrones y tendencias:</a:t>
            </a:r>
            <a:endParaRPr lang="es-ES" sz="2000" dirty="0">
              <a:solidFill>
                <a:schemeClr val="tx1"/>
              </a:solidFill>
            </a:endParaRPr>
          </a:p>
          <a:p>
            <a:pPr lvl="1" algn="l"/>
            <a:r>
              <a:rPr lang="es-ES" sz="1600" dirty="0">
                <a:solidFill>
                  <a:schemeClr val="tx1"/>
                </a:solidFill>
              </a:rPr>
              <a:t>Explorar patrones de compra y tendencias de ventas a lo largo del tiempo.</a:t>
            </a:r>
          </a:p>
          <a:p>
            <a:pPr lvl="1" algn="l"/>
            <a:r>
              <a:rPr lang="es-ES" sz="1600" dirty="0">
                <a:solidFill>
                  <a:schemeClr val="tx1"/>
                </a:solidFill>
              </a:rPr>
              <a:t>Obtener información sobre el comportamiento del cliente.</a:t>
            </a:r>
          </a:p>
          <a:p>
            <a:pPr lvl="1" algn="l"/>
            <a:r>
              <a:rPr lang="es-ES" sz="1600" dirty="0">
                <a:solidFill>
                  <a:schemeClr val="tx1"/>
                </a:solidFill>
              </a:rPr>
              <a:t>Ajustar estrategias de marketing y promociones.</a:t>
            </a:r>
          </a:p>
          <a:p>
            <a:pPr algn="l">
              <a:buFont typeface="Arial" pitchFamily="34" charset="0"/>
              <a:buChar char="•"/>
            </a:pPr>
            <a:r>
              <a:rPr lang="es-ES" sz="2000" b="1" dirty="0">
                <a:solidFill>
                  <a:schemeClr val="tx1"/>
                </a:solidFill>
              </a:rPr>
              <a:t>Toma de decisiones:</a:t>
            </a:r>
            <a:endParaRPr lang="es-ES" sz="2000" dirty="0">
              <a:solidFill>
                <a:schemeClr val="tx1"/>
              </a:solidFill>
            </a:endParaRPr>
          </a:p>
          <a:p>
            <a:pPr lvl="1" algn="l"/>
            <a:r>
              <a:rPr lang="es-ES" sz="1600" dirty="0">
                <a:solidFill>
                  <a:schemeClr val="tx1"/>
                </a:solidFill>
              </a:rPr>
              <a:t>Utilizar la información obtenida para tomar decisiones informadas.</a:t>
            </a:r>
          </a:p>
          <a:p>
            <a:pPr lvl="1" algn="l"/>
            <a:r>
              <a:rPr lang="es-ES" sz="1600" dirty="0">
                <a:solidFill>
                  <a:schemeClr val="tx1"/>
                </a:solidFill>
              </a:rPr>
              <a:t>Ajustar precios, promociones e inventario según el análisis.</a:t>
            </a:r>
          </a:p>
          <a:p>
            <a:pPr lvl="1" algn="l"/>
            <a:r>
              <a:rPr lang="es-ES" sz="1600" dirty="0">
                <a:solidFill>
                  <a:schemeClr val="tx1"/>
                </a:solidFill>
              </a:rPr>
              <a:t>Mejorar la eficiencia y la rentabilidad del negocio.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57224" y="2357430"/>
            <a:ext cx="7772400" cy="1470025"/>
          </a:xfrm>
        </p:spPr>
        <p:txBody>
          <a:bodyPr>
            <a:normAutofit/>
          </a:bodyPr>
          <a:lstStyle/>
          <a:p>
            <a:r>
              <a:rPr lang="es-ES" dirty="0" smtClean="0"/>
              <a:t>Muchas gracias por su atención.</a:t>
            </a:r>
            <a:endParaRPr lang="es-E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376</Words>
  <Application>Microsoft Office PowerPoint</Application>
  <PresentationFormat>Presentación en pantalla (4:3)</PresentationFormat>
  <Paragraphs>48</Paragraphs>
  <Slides>16</Slides>
  <Notes>0</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Tema de Office</vt:lpstr>
      <vt:lpstr>V – Presentación CORE Análisis Avanzado de una empresa de Retail </vt:lpstr>
      <vt:lpstr>Contenido:</vt:lpstr>
      <vt:lpstr>1.- Introducción y objetivos del proyecto. </vt:lpstr>
      <vt:lpstr>2.- Descripción del conjunto de datos  </vt:lpstr>
      <vt:lpstr>3.- Principales análisis y hallazgos.  </vt:lpstr>
      <vt:lpstr>4.- Visualizaciones clave con explicación.  </vt:lpstr>
      <vt:lpstr>Diapositiva 7</vt:lpstr>
      <vt:lpstr>Diapositiva 8</vt:lpstr>
      <vt:lpstr>Agrupamos los datos por fecha para obtener las ventas totales de cada día. Usamos plt.plot() para crear el gráfico de líneas, especificando la fecha en el eje x y las ventas totales en el eje y. </vt:lpstr>
      <vt:lpstr>Un gráfico de dispersión, donde cada punto representa una observación en los datos. La posición del punto en el gráfico está determinada por los valores de las dos variables que se están analizando.</vt:lpstr>
      <vt:lpstr>Dividimos la figura en dos subplots para mostrar el histograma y el boxplot por separado, pero en la misma figura. </vt:lpstr>
      <vt:lpstr>Superponemos el boxplot sobre el histograma para una visualización más compacta. Los valores atípicos se resaltan en el boxplot.</vt:lpstr>
      <vt:lpstr>Diapositiva 13</vt:lpstr>
      <vt:lpstr>Diapositiva 14</vt:lpstr>
      <vt:lpstr>5.- Conclusiones y recomendaciones. </vt:lpstr>
      <vt:lpstr>Muchas gracias por su atención.</vt:lpstr>
    </vt:vector>
  </TitlesOfParts>
  <Company>RevolucionUnattended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 – Presentación CORE Análisis Avanzado de una empresa de Retail </dc:title>
  <dc:creator>raul caceres</dc:creator>
  <cp:lastModifiedBy>raul caceres</cp:lastModifiedBy>
  <cp:revision>5</cp:revision>
  <dcterms:created xsi:type="dcterms:W3CDTF">2024-10-26T18:48:12Z</dcterms:created>
  <dcterms:modified xsi:type="dcterms:W3CDTF">2024-10-27T13:37:39Z</dcterms:modified>
</cp:coreProperties>
</file>